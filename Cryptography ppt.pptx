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985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DAB7F-EC11-488F-BD3A-7AB8DE77715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DA66B4-F9C8-44CC-9D58-93680E5CF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929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A66B4-F9C8-44CC-9D58-93680E5CF9E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325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51639-B2D6-4652-B8C3-1B4C224A7BAF}" type="datetimeFigureOut">
              <a:rPr lang="en-US" smtClean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365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smtClean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564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961B7-6B89-48AB-966F-622E2788EECC}" type="datetimeFigureOut">
              <a:rPr lang="en-US" smtClean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706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smtClean="0"/>
              <a:t>7/22/2026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588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7/22/2026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27688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smtClean="0"/>
              <a:t>7/22/2026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554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smtClean="0"/>
              <a:t>7/22/2026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360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smtClean="0"/>
              <a:t>7/22/2026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693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34A90-EB03-42F3-8859-2C2B2724C058}" type="datetimeFigureOut">
              <a:rPr lang="en-US" smtClean="0"/>
              <a:t>7/22/2026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05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84608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4368137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53153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71233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42724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smtClean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512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smtClean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44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smtClean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826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6" r:id="rId1"/>
    <p:sldLayoutId id="2147483987" r:id="rId2"/>
    <p:sldLayoutId id="2147483988" r:id="rId3"/>
    <p:sldLayoutId id="2147483989" r:id="rId4"/>
    <p:sldLayoutId id="2147483990" r:id="rId5"/>
    <p:sldLayoutId id="2147483991" r:id="rId6"/>
    <p:sldLayoutId id="2147483992" r:id="rId7"/>
    <p:sldLayoutId id="2147483993" r:id="rId8"/>
    <p:sldLayoutId id="2147483994" r:id="rId9"/>
    <p:sldLayoutId id="2147483995" r:id="rId10"/>
    <p:sldLayoutId id="2147483996" r:id="rId11"/>
    <p:sldLayoutId id="2147483997" r:id="rId12"/>
    <p:sldLayoutId id="2147483998" r:id="rId13"/>
    <p:sldLayoutId id="2147483999" r:id="rId14"/>
    <p:sldLayoutId id="2147484000" r:id="rId15"/>
    <p:sldLayoutId id="2147484001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"/>
          <p:cNvSpPr txBox="1">
            <a:spLocks noGrp="1"/>
          </p:cNvSpPr>
          <p:nvPr>
            <p:ph type="ctrTitle"/>
          </p:nvPr>
        </p:nvSpPr>
        <p:spPr>
          <a:xfrm>
            <a:off x="783770" y="2312126"/>
            <a:ext cx="10567800" cy="17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PRESENTATION</a:t>
            </a:r>
            <a:b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5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CSA5112 CRYPTOGRAPHY AND NETWORK SECURITY</a:t>
            </a:r>
            <a:endParaRPr sz="3500" dirty="0">
              <a:solidFill>
                <a:schemeClr val="dk1"/>
              </a:solidFill>
            </a:endParaRPr>
          </a:p>
        </p:txBody>
      </p:sp>
      <p:sp>
        <p:nvSpPr>
          <p:cNvPr id="36" name="Google Shape;36;p1"/>
          <p:cNvSpPr txBox="1">
            <a:spLocks noGrp="1"/>
          </p:cNvSpPr>
          <p:nvPr>
            <p:ph type="subTitle" idx="1"/>
          </p:nvPr>
        </p:nvSpPr>
        <p:spPr>
          <a:xfrm>
            <a:off x="1507066" y="4050833"/>
            <a:ext cx="8760300" cy="10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TOPIC: SUBSTUTIONAL VS TRANSPOSITION TECHNIQUE WHICH PROVIDES BETTER SECFURITY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7" name="Google Shape;37;p1" descr="SSE-Computer Science and Engineeri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4578" y="365708"/>
            <a:ext cx="10054937" cy="1110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71886" y="126740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"/>
          <p:cNvSpPr txBox="1"/>
          <p:nvPr/>
        </p:nvSpPr>
        <p:spPr>
          <a:xfrm>
            <a:off x="8247501" y="5327878"/>
            <a:ext cx="2756400" cy="12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 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Logeshwari S (192565040)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" name="Google Shape;40;p1"/>
          <p:cNvSpPr txBox="1"/>
          <p:nvPr/>
        </p:nvSpPr>
        <p:spPr>
          <a:xfrm>
            <a:off x="894323" y="5327878"/>
            <a:ext cx="61005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E.Anbalagan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D39C4-36A7-BDCC-6853-3993CCC04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011" y="1358537"/>
            <a:ext cx="11477898" cy="4741817"/>
          </a:xfrm>
        </p:spPr>
        <p:txBody>
          <a:bodyPr/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Classical Encryption?</a:t>
            </a:r>
          </a:p>
          <a:p>
            <a:pPr marL="274320" lvl="1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Classical encryption techniques protect confidential information by transforming plaintext into     ciphertext.</a:t>
            </a: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Two fundamental techniques are: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Technique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Replaces each character with another character or symbol.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Transposition Technique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Rearranges the positions of characters without changing them.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AC76FE-2076-A42B-90B7-38856F4EEB7F}"/>
              </a:ext>
            </a:extLst>
          </p:cNvPr>
          <p:cNvSpPr txBox="1"/>
          <p:nvPr/>
        </p:nvSpPr>
        <p:spPr>
          <a:xfrm>
            <a:off x="418011" y="488341"/>
            <a:ext cx="68580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</a:t>
            </a:r>
            <a:endParaRPr lang="en-IN" sz="29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AE2F05-08C3-36BF-B05D-5CC39F291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2121" y="2338251"/>
            <a:ext cx="3623788" cy="248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054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96DD3-6B83-66E9-65AD-3F9EAF2AF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726" y="420525"/>
            <a:ext cx="8325394" cy="881665"/>
          </a:xfrm>
        </p:spPr>
        <p:txBody>
          <a:bodyPr>
            <a:no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Substitution Technique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671696-A088-F517-4EA7-2E44E317E9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8819338"/>
              </p:ext>
            </p:extLst>
          </p:nvPr>
        </p:nvGraphicFramePr>
        <p:xfrm>
          <a:off x="936171" y="5356886"/>
          <a:ext cx="10058400" cy="7315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897561358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79087657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8674259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31617548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4002441294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2603158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Plaintext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1063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Ciphertext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295222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2258E01-4070-8495-2922-084FCD16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171" y="1302190"/>
            <a:ext cx="9274627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Substitution?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encryption replaces each plaintext character with another character according to a fixed rule or secret key. The positions of the characters remain unchanged.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Plaintext: HELLO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a Caesar Cipher (key= 3):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Encrypted Text: KHOOR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C=(P+K)mod26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P=(C−K)mod26</a:t>
            </a: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447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26808-857A-36C3-A797-661D4D639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537" y="953589"/>
            <a:ext cx="10271760" cy="4578531"/>
          </a:xfrm>
        </p:spPr>
        <p:txBody>
          <a:bodyPr>
            <a:normAutofit fontScale="90000"/>
          </a:bodyPr>
          <a:lstStyle/>
          <a:p>
            <a:r>
              <a:rPr lang="en-IN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br>
              <a:rPr lang="en-IN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Monoalphabetic Cipher</a:t>
            </a:r>
            <a:br>
              <a:rPr lang="en-IN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Playfair Cipher</a:t>
            </a:r>
            <a:br>
              <a:rPr lang="en-IN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Vigenère Cipher.</a:t>
            </a:r>
            <a:br>
              <a:rPr lang="en-IN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Hill Cipher</a:t>
            </a:r>
            <a:br>
              <a:rPr lang="en-IN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br>
              <a:rPr lang="en-US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 Hides the original characters (Confusion)</a:t>
            </a:r>
            <a:br>
              <a:rPr lang="en-US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 Easy to implement</a:t>
            </a:r>
            <a:br>
              <a:rPr lang="en-US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 More secure with complex substitution methods</a:t>
            </a:r>
            <a:br>
              <a:rPr lang="en-US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br>
              <a:rPr lang="en-US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✖ Simple substitution ciphers are vulnerable to frequency analysis.</a:t>
            </a:r>
            <a:br>
              <a:rPr lang="en-US" dirty="0"/>
            </a:br>
            <a:br>
              <a:rPr lang="en-IN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91ADC6-07BB-152C-6810-D81C58DCD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9694" y="1325880"/>
            <a:ext cx="4192926" cy="3489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58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9469E-CAF9-CD7B-695F-F2BE65A69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TRANSPOSITION TECHNIQUE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3904550-9981-6C06-06E2-EA5C7D477F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9395140"/>
              </p:ext>
            </p:extLst>
          </p:nvPr>
        </p:nvGraphicFramePr>
        <p:xfrm>
          <a:off x="795252" y="5029200"/>
          <a:ext cx="10347366" cy="1088571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724561">
                  <a:extLst>
                    <a:ext uri="{9D8B030D-6E8A-4147-A177-3AD203B41FA5}">
                      <a16:colId xmlns:a16="http://schemas.microsoft.com/office/drawing/2014/main" val="4072605400"/>
                    </a:ext>
                  </a:extLst>
                </a:gridCol>
                <a:gridCol w="1724561">
                  <a:extLst>
                    <a:ext uri="{9D8B030D-6E8A-4147-A177-3AD203B41FA5}">
                      <a16:colId xmlns:a16="http://schemas.microsoft.com/office/drawing/2014/main" val="2061651056"/>
                    </a:ext>
                  </a:extLst>
                </a:gridCol>
                <a:gridCol w="1724561">
                  <a:extLst>
                    <a:ext uri="{9D8B030D-6E8A-4147-A177-3AD203B41FA5}">
                      <a16:colId xmlns:a16="http://schemas.microsoft.com/office/drawing/2014/main" val="841782169"/>
                    </a:ext>
                  </a:extLst>
                </a:gridCol>
                <a:gridCol w="1724561">
                  <a:extLst>
                    <a:ext uri="{9D8B030D-6E8A-4147-A177-3AD203B41FA5}">
                      <a16:colId xmlns:a16="http://schemas.microsoft.com/office/drawing/2014/main" val="1477746310"/>
                    </a:ext>
                  </a:extLst>
                </a:gridCol>
                <a:gridCol w="1724561">
                  <a:extLst>
                    <a:ext uri="{9D8B030D-6E8A-4147-A177-3AD203B41FA5}">
                      <a16:colId xmlns:a16="http://schemas.microsoft.com/office/drawing/2014/main" val="2513490727"/>
                    </a:ext>
                  </a:extLst>
                </a:gridCol>
                <a:gridCol w="1724561">
                  <a:extLst>
                    <a:ext uri="{9D8B030D-6E8A-4147-A177-3AD203B41FA5}">
                      <a16:colId xmlns:a16="http://schemas.microsoft.com/office/drawing/2014/main" val="3004232333"/>
                    </a:ext>
                  </a:extLst>
                </a:gridCol>
              </a:tblGrid>
              <a:tr h="692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Original Position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0241362"/>
                  </a:ext>
                </a:extLst>
              </a:tr>
              <a:tr h="395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Letter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91730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9A86AE0-D81C-4DBE-7BA8-85941D3A20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40" y="1422182"/>
            <a:ext cx="1042416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Transposition?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Transposition encryption does not change the characters. Instead, it rearranges their positions using a secret pattern or key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Plaintext: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HELLO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Rearranging the positions: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Reordered: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Ciphertext: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HLOEL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082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22DE8-69E0-651E-77F5-919239FBB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331" y="1259252"/>
            <a:ext cx="10019212" cy="49847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 Fence Cipher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Columnar Transposition 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Hides the message structure (Diffusion)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Difficult to interpret without the correct key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More effective when combined with substitution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✖ Character frequency remains unchanged, making it vulnerable to certain attacks if used alone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0C8800-D9B8-F269-F9C5-441533E47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468" y="1036184"/>
            <a:ext cx="5876925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241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28767-79B3-CC20-47A0-E117F36A2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0073397" cy="1320800"/>
          </a:xfrm>
        </p:spPr>
        <p:txBody>
          <a:bodyPr>
            <a:normAutofit/>
          </a:bodyPr>
          <a:lstStyle/>
          <a:p>
            <a:r>
              <a:rPr lang="en-IN" dirty="0"/>
              <a:t>Security Analysis</a:t>
            </a:r>
            <a:br>
              <a:rPr lang="en-IN" dirty="0"/>
            </a:br>
            <a:r>
              <a:rPr lang="en-IN" dirty="0"/>
              <a:t> Substitution vs Transposition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D2544B4-65EB-CD29-09B6-A107F1B5A0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8170994"/>
              </p:ext>
            </p:extLst>
          </p:nvPr>
        </p:nvGraphicFramePr>
        <p:xfrm>
          <a:off x="953588" y="2356956"/>
          <a:ext cx="9261567" cy="3891444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087189">
                  <a:extLst>
                    <a:ext uri="{9D8B030D-6E8A-4147-A177-3AD203B41FA5}">
                      <a16:colId xmlns:a16="http://schemas.microsoft.com/office/drawing/2014/main" val="291839348"/>
                    </a:ext>
                  </a:extLst>
                </a:gridCol>
                <a:gridCol w="3087189">
                  <a:extLst>
                    <a:ext uri="{9D8B030D-6E8A-4147-A177-3AD203B41FA5}">
                      <a16:colId xmlns:a16="http://schemas.microsoft.com/office/drawing/2014/main" val="1292433613"/>
                    </a:ext>
                  </a:extLst>
                </a:gridCol>
                <a:gridCol w="3087189">
                  <a:extLst>
                    <a:ext uri="{9D8B030D-6E8A-4147-A177-3AD203B41FA5}">
                      <a16:colId xmlns:a16="http://schemas.microsoft.com/office/drawing/2014/main" val="4210412731"/>
                    </a:ext>
                  </a:extLst>
                </a:gridCol>
              </a:tblGrid>
              <a:tr h="3234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Security Aspect</a:t>
                      </a:r>
                      <a:endParaRPr lang="en-IN" sz="1600"/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Substitution Technique</a:t>
                      </a:r>
                      <a:endParaRPr lang="en-IN" sz="1600"/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Transposition Technique</a:t>
                      </a:r>
                      <a:endParaRPr lang="en-IN" sz="1600"/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3763252772"/>
                  </a:ext>
                </a:extLst>
              </a:tr>
              <a:tr h="566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Encryption Method</a:t>
                      </a:r>
                      <a:endParaRPr lang="en-IN" sz="1600"/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Replaces characters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Rearranges character positions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2874720659"/>
                  </a:ext>
                </a:extLst>
              </a:tr>
              <a:tr h="3234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Security Principle</a:t>
                      </a:r>
                      <a:endParaRPr lang="en-IN" sz="1600"/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Confusion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Diffusion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605742290"/>
                  </a:ext>
                </a:extLst>
              </a:tr>
              <a:tr h="3234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Protects</a:t>
                      </a:r>
                      <a:endParaRPr lang="en-IN" sz="1600"/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Character identity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Character arrangement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2094667779"/>
                  </a:ext>
                </a:extLst>
              </a:tr>
              <a:tr h="566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Resistance to Pattern Recognition</a:t>
                      </a:r>
                      <a:endParaRPr lang="en-IN" sz="1600"/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/>
                        <a:t>High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Moderate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72792529"/>
                  </a:ext>
                </a:extLst>
              </a:tr>
              <a:tr h="8086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Resistance to Frequency Analysis</a:t>
                      </a:r>
                      <a:endParaRPr lang="en-IN" sz="1600"/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Better (especially advanced substitution ciphers)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Lower (letter frequencies remain unchanged)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3117266910"/>
                  </a:ext>
                </a:extLst>
              </a:tr>
              <a:tr h="3234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Difficulty to Break</a:t>
                      </a:r>
                      <a:endParaRPr lang="en-IN" sz="1600"/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Higher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Lower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1469049042"/>
                  </a:ext>
                </a:extLst>
              </a:tr>
              <a:tr h="3234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Standalone Security</a:t>
                      </a:r>
                      <a:endParaRPr lang="en-IN" sz="1600"/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/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/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3187077628"/>
                  </a:ext>
                </a:extLst>
              </a:tr>
              <a:tr h="3234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Overall Verdict</a:t>
                      </a:r>
                      <a:endParaRPr lang="en-IN" sz="1600"/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🏆 </a:t>
                      </a:r>
                      <a:r>
                        <a:rPr lang="en-IN" sz="1600" b="1"/>
                        <a:t>Better Security</a:t>
                      </a:r>
                      <a:endParaRPr lang="en-IN" sz="1600"/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Moderate Security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943334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5150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70F0A-6097-EECE-D5C1-CE88C163E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A81A6-679C-FFDF-FB58-DB99D2BE7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714" y="1930400"/>
            <a:ext cx="9733763" cy="3880773"/>
          </a:xfrm>
        </p:spPr>
        <p:txBody>
          <a:bodyPr>
            <a:normAutofit fontScale="77500" lnSpcReduction="20000"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and Transposition are two fundamental classical encryption techniques.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secures data by replacing characters, while Transposition secures data by rearranging their positions.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security analysis, Substitution provides better standalone security because it hides the actual identity of the characters, making the ciphertext more difficult to interpret.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neither technique alone is sufficient against modern cryptographic attacks.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encryption algorithms, such as DES and AES, combine substitution and transposition to achieve stronger security through both confusion and diffusion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353492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482</Words>
  <Application>Microsoft Office PowerPoint</Application>
  <PresentationFormat>Widescreen</PresentationFormat>
  <Paragraphs>98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TECHNICAL PRESENTATION CSA5112 CRYPTOGRAPHY AND NETWORK SECURITY</vt:lpstr>
      <vt:lpstr>PowerPoint Presentation</vt:lpstr>
      <vt:lpstr>  Substitution Technique</vt:lpstr>
      <vt:lpstr>EXAMPLES Monoalphabetic Cipher Playfair Cipher Vigenère Cipher. Hill Cipher  Advantages ✔ Hides the original characters (Confusion) ✔ Easy to implement ✔ More secure with complex substitution methods  Limitations ✖ Simple substitution ciphers are vulnerable to frequency analysis.  </vt:lpstr>
      <vt:lpstr>TRANSPOSITION TECHNIQUE</vt:lpstr>
      <vt:lpstr>PowerPoint Presentation</vt:lpstr>
      <vt:lpstr>Security Analysis  Substitution vs Transposition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Dell</cp:lastModifiedBy>
  <cp:revision>1</cp:revision>
  <dcterms:modified xsi:type="dcterms:W3CDTF">2026-07-22T05:42:47Z</dcterms:modified>
</cp:coreProperties>
</file>